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CAC</c:v>
                </c:pt>
              </c:strCache>
            </c:strRef>
          </c:tx>
          <c:spPr>
            <a:solidFill>
              <a:srgbClr val="EC11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Scotia student
(existing promo)</c:v>
                  </c:pt>
                  <c:pt idx="1">
                    <c:v>Wealthsimple
referral entry</c:v>
                  </c:pt>
                  <c:pt idx="2">
                    <c:v>ScotiaSeed
(proposed)</c:v>
                  </c:pt>
                  <c:pt idx="3">
                    <c:v>RBC Direct
Investing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175</c:v>
                </c:pt>
                <c:pt idx="1">
                  <c:v>25</c:v>
                </c:pt>
                <c:pt idx="2">
                  <c:v>300</c:v>
                </c:pt>
                <c:pt idx="3">
                  <c:v>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4C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Imagine someone.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is twenty-two.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4CA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Scotia chequing customer since she was sixteen.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4069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EC1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Last Tuesday, she opened Wealthsimple.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5349240"/>
            <a:ext cx="137160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SCOTIASEED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5852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Closing the Gap. caseHacks 2026.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595360" y="0"/>
            <a:ext cx="3566160" cy="6858000"/>
          </a:xfrm>
          <a:prstGeom prst="rect">
            <a:avLst/>
          </a:prstGeom>
          <a:solidFill>
            <a:srgbClr val="EC111A"/>
          </a:solidFill>
          <a:ln w="12700">
            <a:solidFill>
              <a:srgbClr val="EC111A"/>
            </a:solidFill>
            <a:prstDash val="solid"/>
          </a:ln>
        </p:spPr>
      </p:sp>
      <p:pic>
        <p:nvPicPr>
          <p:cNvPr id="10" name="Image 0" descr="/sessions/gallant-admiring-mendel/mnt/caseHacks/prototype/screen_01_welc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869680" y="457200"/>
            <a:ext cx="3017520" cy="5943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SCOTIASEED   .   CASEHACKS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292608"/>
          </a:xfrm>
          <a:prstGeom prst="rect">
            <a:avLst/>
          </a:prstGeom>
          <a:solidFill>
            <a:srgbClr val="EC111A"/>
          </a:solidFill>
          <a:ln w="12700">
            <a:solidFill>
              <a:srgbClr val="EC11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Scotia has the deposit. Wealthsimple has the investor.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eighteen to thirty-four cohort. Different relationship. The gap widens every quarter.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4747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606040"/>
            <a:ext cx="3474720" cy="109728"/>
          </a:xfrm>
          <a:prstGeom prst="rect">
            <a:avLst/>
          </a:prstGeom>
          <a:solidFill>
            <a:srgbClr val="EC111A"/>
          </a:solidFill>
          <a:ln w="12700">
            <a:solidFill>
              <a:srgbClr val="EC11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WEALTHSIMPLE AUA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C1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$125B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822960" y="4754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 2026. Up 71% year over year.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2606040"/>
            <a:ext cx="34747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606040"/>
            <a:ext cx="3474720" cy="10972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CANADIANS 18 TO 40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33832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5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4663440" y="4754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 use Wealthsimple.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2606040"/>
            <a:ext cx="34747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2606040"/>
            <a:ext cx="3474720" cy="109728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WEALTH TRANSFER, BY 2026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03920" y="33832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8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$1T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8503920" y="4754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Boomers to younger generations.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715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Whoever builds investment relationships with younger Canadians now will manage the next trillion.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SCOTIASEED   .   CASEHACKS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292608"/>
          </a:xfrm>
          <a:prstGeom prst="rect">
            <a:avLst/>
          </a:prstGeom>
          <a:solidFill>
            <a:srgbClr val="EC111A"/>
          </a:solidFill>
          <a:ln w="12700">
            <a:solidFill>
              <a:srgbClr val="EC11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THEY DISENGAGE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not the money. It is the confidence.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the case exhibits. The barriers for 18 to 34 Canadians.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2606040" cy="2377440"/>
          </a:xfrm>
          <a:prstGeom prst="rect">
            <a:avLst/>
          </a:prstGeom>
          <a:solidFill>
            <a:srgbClr val="FA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603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C1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confident in their investment knowledge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2377440"/>
            <a:ext cx="2606040" cy="2377440"/>
          </a:xfrm>
          <a:prstGeom prst="rect">
            <a:avLst/>
          </a:prstGeom>
          <a:solidFill>
            <a:srgbClr val="FA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5603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C1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43%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3474720" y="3749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uncertain where to begin investing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2377440"/>
            <a:ext cx="2606040" cy="2377440"/>
          </a:xfrm>
          <a:prstGeom prst="rect">
            <a:avLst/>
          </a:prstGeom>
          <a:solidFill>
            <a:srgbClr val="FA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5603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C1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84%</a:t>
            </a:r>
            <a:endParaRPr lang="en-US" sz="5800" dirty="0"/>
          </a:p>
        </p:txBody>
      </p:sp>
      <p:sp>
        <p:nvSpPr>
          <p:cNvPr id="14" name="Text 12"/>
          <p:cNvSpPr/>
          <p:nvPr/>
        </p:nvSpPr>
        <p:spPr>
          <a:xfrm>
            <a:off x="6217920" y="3749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feel negative emotions about RRSP contributions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78240" y="2377440"/>
            <a:ext cx="2606040" cy="2377440"/>
          </a:xfrm>
          <a:prstGeom prst="rect">
            <a:avLst/>
          </a:prstGeom>
          <a:solidFill>
            <a:srgbClr val="FA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0" y="25603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C1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36%</a:t>
            </a:r>
            <a:endParaRPr lang="en-US" sz="5800" dirty="0"/>
          </a:p>
        </p:txBody>
      </p:sp>
      <p:sp>
        <p:nvSpPr>
          <p:cNvPr id="17" name="Text 15"/>
          <p:cNvSpPr/>
          <p:nvPr/>
        </p:nvSpPr>
        <p:spPr>
          <a:xfrm>
            <a:off x="8961120" y="3749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 in basic retirement mechanics, vs 69% of 55+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120640"/>
            <a:ext cx="73152" cy="1188720"/>
          </a:xfrm>
          <a:prstGeom prst="rect">
            <a:avLst/>
          </a:prstGeom>
          <a:solidFill>
            <a:srgbClr val="EC111A"/>
          </a:solidFill>
          <a:ln w="12700">
            <a:solidFill>
              <a:srgbClr val="EC11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120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barrier to first investment among younger Canadians is more often confidence and clarity than it is capital."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724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Scotiabank case package, page six.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SCOTIASEED   .   CASEHACKS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292608"/>
          </a:xfrm>
          <a:prstGeom prst="rect">
            <a:avLst/>
          </a:prstGeom>
          <a:solidFill>
            <a:srgbClr val="EC111A"/>
          </a:solidFill>
          <a:ln w="12700">
            <a:solidFill>
              <a:srgbClr val="EC11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INVISIBLE WEDGE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things fintechs cannot copy.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Wealthsimple competes on simplicity. We compete on already being there.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215798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1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Pre-verified identity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FINTRAC Method 5 reuses the KYC we already did for chequing. No re-upload. Onboarding drops from 25 minutes to 5.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98064" y="2468880"/>
            <a:ext cx="215798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80944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1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80944" y="31089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$1.1M protection stack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80944" y="39319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CDIC on cash, CIPF on securities. Wealthsimple engineered this through partner banks. Scotia has it built in.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468880"/>
            <a:ext cx="215798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0368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1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30368" y="31089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FHSA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30368" y="39319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bulk of FHSA contributors are 25 to 34. Solves the housing anxiety and retirement anxiety double bind, in one product.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96912" y="2468880"/>
            <a:ext cx="215798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79792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1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479792" y="31089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internal transfers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79792" y="39319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Round-ups and PAC move in real time. No 1 to 3 day delay. No NSF risk. No external account linking.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546336" y="2468880"/>
            <a:ext cx="215798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29216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1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729216" y="31089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where trust is lowest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729216" y="39319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82% of 18 to 24 year olds get financial info from social media. Scotia is the credible alternative they already chose.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SCOTIASEED   .   CASEHACKS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292608"/>
          </a:xfrm>
          <a:prstGeom prst="rect">
            <a:avLst/>
          </a:prstGeom>
          <a:solidFill>
            <a:srgbClr val="EC111A"/>
          </a:solidFill>
          <a:ln w="12700">
            <a:solidFill>
              <a:srgbClr val="EC11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MECHANIC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ScotiaSeed. A two-year matched path from zero to investor.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bonus is the hook. The auto-PAC is the moat. The two-ledger UI is the trust.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2157984" cy="2468880"/>
          </a:xfrm>
          <a:prstGeom prst="rect">
            <a:avLst/>
          </a:prstGeom>
          <a:solidFill>
            <a:srgbClr val="EC111A"/>
          </a:solidFill>
          <a:ln w="12700">
            <a:solidFill>
              <a:srgbClr val="EC11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opened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343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E5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Pre-fill from Scotia banking. Five plain questions.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98064" y="2560320"/>
            <a:ext cx="2157984" cy="2468880"/>
          </a:xfrm>
          <a:prstGeom prst="rect">
            <a:avLst/>
          </a:prstGeom>
          <a:solidFill>
            <a:srgbClr val="EC111A"/>
          </a:solidFill>
          <a:ln w="12700">
            <a:solidFill>
              <a:srgbClr val="EC11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80944" y="27432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980944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Education complete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80944" y="4343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E5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short lessons. Five minutes total.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560320"/>
            <a:ext cx="2157984" cy="2468880"/>
          </a:xfrm>
          <a:prstGeom prst="rect">
            <a:avLst/>
          </a:prstGeom>
          <a:solidFill>
            <a:srgbClr val="C4131A"/>
          </a:solidFill>
          <a:ln w="12700">
            <a:solidFill>
              <a:srgbClr val="C413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0368" y="27432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5230368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PAC set up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30368" y="4343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E5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least $25 a month, proven over 3 months.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96912" y="2560320"/>
            <a:ext cx="2157984" cy="2468880"/>
          </a:xfrm>
          <a:prstGeom prst="rect">
            <a:avLst/>
          </a:prstGeom>
          <a:solidFill>
            <a:srgbClr val="C4131A"/>
          </a:solidFill>
          <a:ln w="12700">
            <a:solidFill>
              <a:srgbClr val="C413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79792" y="27432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7479792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 12 anniversary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79792" y="4343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E5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Still contributing. Crosses retention cliff one.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546336" y="2560320"/>
            <a:ext cx="2157984" cy="2468880"/>
          </a:xfrm>
          <a:prstGeom prst="rect">
            <a:avLst/>
          </a:prstGeom>
          <a:solidFill>
            <a:srgbClr val="B40005"/>
          </a:solidFill>
          <a:ln w="12700">
            <a:solidFill>
              <a:srgbClr val="B4000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29216" y="27432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9729216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 24 graduation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729216" y="4343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E5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Still contributing. Crosses retention cliff two.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212080"/>
            <a:ext cx="1106424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$300 lifetime cap. Paid only on engagement. Plus a 2 cent round-up on every Scotia purchase, capped at $50 over the program.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SCOTIASEED   .   CASEHACKS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gallant-admiring-mendel/mnt/caseHacks/prototype/screen_06_two_ledg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548640"/>
            <a:ext cx="3657600" cy="5669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0" y="640080"/>
            <a:ext cx="164592" cy="292608"/>
          </a:xfrm>
          <a:prstGeom prst="rect">
            <a:avLst/>
          </a:prstGeom>
          <a:solidFill>
            <a:srgbClr val="EC111A"/>
          </a:solidFill>
          <a:ln w="12700">
            <a:solidFill>
              <a:srgbClr val="EC111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303520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HERO UI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0" y="10972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ledgers. Total trust.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029200" y="20116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4CA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see their money and Scotia's match side by side, from day one.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0" y="2743200"/>
            <a:ext cx="109728" cy="91440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0" y="2743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money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303520" y="31546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A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Deposits, round-ups, growth. Withdraw freely. No clawback, ever.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0" y="3840480"/>
            <a:ext cx="109728" cy="914400"/>
          </a:xfrm>
          <a:prstGeom prst="rect">
            <a:avLst/>
          </a:prstGeom>
          <a:solidFill>
            <a:srgbClr val="EC111A"/>
          </a:solidFill>
          <a:ln w="12700">
            <a:solidFill>
              <a:srgbClr val="EC11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3840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Scotia's match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303520" y="42519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A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Locked for 24 months. Visible from the start. The carrot you can see growing.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0" y="4937760"/>
            <a:ext cx="109728" cy="914400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0" y="4937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forfeiture rule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303520" y="53492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A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Withdraw into Scotia's portion, you have 90 days to restore it. After that, the program ends. No surprises.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29200" y="61264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Vanguard: 9 in 10 auto-enrolled stay invested at three years. Defaults beat incentives. We use both.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SCOTIASEED   .   CASEHACKS 2026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292608"/>
          </a:xfrm>
          <a:prstGeom prst="rect">
            <a:avLst/>
          </a:prstGeom>
          <a:solidFill>
            <a:srgbClr val="EC111A"/>
          </a:solidFill>
          <a:ln w="12700">
            <a:solidFill>
              <a:srgbClr val="EC11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chequing customer to invested in under five minutes.</a:t>
            </a:r>
            <a:endParaRPr lang="en-US" sz="2800" dirty="0"/>
          </a:p>
        </p:txBody>
      </p:sp>
      <p:pic>
        <p:nvPicPr>
          <p:cNvPr id="5" name="Image 0" descr="/sessions/gallant-admiring-mendel/mnt/caseHacks/prototype/screen_01_welc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2103120"/>
            <a:ext cx="210312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806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Hook</a:t>
            </a:r>
            <a:endParaRPr lang="en-US" sz="1200" dirty="0"/>
          </a:p>
        </p:txBody>
      </p:sp>
      <p:pic>
        <p:nvPicPr>
          <p:cNvPr id="7" name="Image 1" descr="/sessions/gallant-admiring-mendel/mnt/caseHacks/prototype/screen_02_pre_fil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0" y="2103120"/>
            <a:ext cx="2103120" cy="3657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0" y="5806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Pre-filled KYC</a:t>
            </a:r>
            <a:endParaRPr lang="en-US" sz="1200" dirty="0"/>
          </a:p>
        </p:txBody>
      </p:sp>
      <p:pic>
        <p:nvPicPr>
          <p:cNvPr id="9" name="Image 2" descr="/sessions/gallant-admiring-mendel/mnt/caseHacks/prototype/screen_03_suitability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29200" y="2103120"/>
            <a:ext cx="2103120" cy="3657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29200" y="5806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Plain-language risk</a:t>
            </a:r>
            <a:endParaRPr lang="en-US" sz="1200" dirty="0"/>
          </a:p>
        </p:txBody>
      </p:sp>
      <p:pic>
        <p:nvPicPr>
          <p:cNvPr id="11" name="Image 3" descr="/sessions/gallant-admiring-mendel/mnt/caseHacks/prototype/screen_04_account_pick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15200" y="2103120"/>
            <a:ext cx="2103120" cy="3657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315200" y="5806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FHSA recommended</a:t>
            </a:r>
            <a:endParaRPr lang="en-US" sz="1200" dirty="0"/>
          </a:p>
        </p:txBody>
      </p:sp>
      <p:pic>
        <p:nvPicPr>
          <p:cNvPr id="13" name="Image 4" descr="/sessions/gallant-admiring-mendel/mnt/caseHacks/prototype/screen_05_starter_celebration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601200" y="2103120"/>
            <a:ext cx="2103120" cy="3657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601200" y="5806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$25 unlocked</a:t>
            </a: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548640" y="6263640"/>
            <a:ext cx="11064240" cy="228600"/>
          </a:xfrm>
          <a:prstGeom prst="rect">
            <a:avLst/>
          </a:prstGeom>
          <a:solidFill>
            <a:srgbClr val="EC111A"/>
          </a:solidFill>
          <a:ln w="12700">
            <a:solidFill>
              <a:srgbClr val="EC111A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45720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SCOTIASEED   .   CASEHACKS 2026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292608"/>
          </a:xfrm>
          <a:prstGeom prst="rect">
            <a:avLst/>
          </a:prstGeom>
          <a:solidFill>
            <a:srgbClr val="EC111A"/>
          </a:solidFill>
          <a:ln w="12700">
            <a:solidFill>
              <a:srgbClr val="EC11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NUMBERS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 in. Three to six thousand out. Defensible.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ACQUISITION COST. INDUSTRY CONTEXT.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19456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40080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20-YEAR VALUE PER USER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0" y="2286000"/>
            <a:ext cx="5212080" cy="502920"/>
          </a:xfrm>
          <a:prstGeom prst="rect">
            <a:avLst/>
          </a:prstGeom>
          <a:solidFill>
            <a:srgbClr val="FA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37960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Banking-industry CLV benchmark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92640" y="2286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11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$2,000 to $4,500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0" y="2880360"/>
            <a:ext cx="5212080" cy="502920"/>
          </a:xfrm>
          <a:prstGeom prst="rect">
            <a:avLst/>
          </a:prstGeom>
          <a:solidFill>
            <a:srgbClr val="FA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2880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FHSA into mortgage attach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692640" y="28803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11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plus $1,500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0" y="3474720"/>
            <a:ext cx="5212080" cy="502920"/>
          </a:xfrm>
          <a:prstGeom prst="rect">
            <a:avLst/>
          </a:prstGeom>
          <a:solidFill>
            <a:srgbClr val="FA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37960" y="3474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Wealth transfer optionality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692640" y="34747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11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embedded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0" y="4069080"/>
            <a:ext cx="5212080" cy="502920"/>
          </a:xfrm>
          <a:prstGeom prst="rect">
            <a:avLst/>
          </a:prstGeom>
          <a:solidFill>
            <a:srgbClr val="FA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37960" y="4069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ScotiaSeed effective NPV at 7%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692640" y="40690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11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$3,000 to $6,000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00800" y="4846320"/>
            <a:ext cx="5212080" cy="640080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37960" y="484632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10x to 20x ROI on a fully converted user.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Scotia already spends $175 to acquire a student chequing account through July 2026. We redirect $125 more to convert that same person into an investor.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SCOTIASEED   .   CASEHACKS 2026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292608"/>
          </a:xfrm>
          <a:prstGeom prst="rect">
            <a:avLst/>
          </a:prstGeom>
          <a:solidFill>
            <a:srgbClr val="EC111A"/>
          </a:solidFill>
          <a:ln w="12700">
            <a:solidFill>
              <a:srgbClr val="EC11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ALIGNMENT AND TIMELINE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of Scotia's four pillars. Eighteen months to launch.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109728" cy="1554480"/>
          </a:xfrm>
          <a:prstGeom prst="rect">
            <a:avLst/>
          </a:prstGeom>
          <a:solidFill>
            <a:srgbClr val="EC111A"/>
          </a:solidFill>
          <a:ln w="12700">
            <a:solidFill>
              <a:srgbClr val="EC11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SCOTIA STRATEGIC PILLAR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"Earn primary client relationships"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 the deposit relationship into a primary investing relationship, before fintechs do.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828800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0760" y="1828800"/>
            <a:ext cx="109728" cy="1554480"/>
          </a:xfrm>
          <a:prstGeom prst="rect">
            <a:avLst/>
          </a:prstGeom>
          <a:solidFill>
            <a:srgbClr val="EC111A"/>
          </a:solidFill>
          <a:ln w="12700">
            <a:solidFill>
              <a:srgbClr val="EC11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965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SCOTIA STRATEGIC PILLAR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55080" y="22860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"Make it easy to do business with us"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27889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Collapse investment account onboarding into a five-minute upgrade of an existing chequing relationship.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703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18-MONTH ROLLOUT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11064240" cy="5486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160520"/>
            <a:ext cx="329184" cy="329184"/>
          </a:xfrm>
          <a:prstGeom prst="ellipse">
            <a:avLst/>
          </a:prstGeom>
          <a:solidFill>
            <a:srgbClr val="EC111A"/>
          </a:solidFill>
          <a:ln w="12700">
            <a:solidFill>
              <a:srgbClr val="EC11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526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 2026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4800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4320" y="5166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KYC reuse API. Two-ledger UI. Education modules. Forfeiture engine.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4160520"/>
            <a:ext cx="329184" cy="329184"/>
          </a:xfrm>
          <a:prstGeom prst="ellipse">
            <a:avLst/>
          </a:prstGeom>
          <a:solidFill>
            <a:srgbClr val="EC111A"/>
          </a:solidFill>
          <a:ln w="12700">
            <a:solidFill>
              <a:srgbClr val="EC11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0" y="4526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 2027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17520" y="4800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pilot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017520" y="5166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20,000 Preferred Package for Students and Youth customers. Validate retention curve.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4160520"/>
            <a:ext cx="329184" cy="329184"/>
          </a:xfrm>
          <a:prstGeom prst="ellipse">
            <a:avLst/>
          </a:prstGeom>
          <a:solidFill>
            <a:srgbClr val="EC111A"/>
          </a:solidFill>
          <a:ln w="12700">
            <a:solidFill>
              <a:srgbClr val="EC11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4526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 2027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60720" y="4800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Broaden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760720" y="5166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 to 18 to 24 non-students. Iterate on milestone unlock structure.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778240" y="4160520"/>
            <a:ext cx="329184" cy="329184"/>
          </a:xfrm>
          <a:prstGeom prst="ellipse">
            <a:avLst/>
          </a:prstGeom>
          <a:solidFill>
            <a:srgbClr val="EC111A"/>
          </a:solidFill>
          <a:ln w="12700">
            <a:solidFill>
              <a:srgbClr val="EC11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0" y="4526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 2028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503920" y="4800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launch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503920" y="5166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18 to 34. Marketing, social, FHSA hero campaign.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SCOTIASEED   .   CASEHACKS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Young Canadians are getting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2057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advice from TikTok.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Scotia can do better.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4846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E5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ScotiaSeed. The bank that already has them. Converting them into the investors who stay for a lifetime.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5669280"/>
            <a:ext cx="137160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FIRST STEP IS ON US.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SCOTIASEED   .   CASEHACKS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89920" y="6565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ScotiaSeed</dc:title>
  <dc:subject>PptxGenJS Presentation</dc:subject>
  <dc:creator>caseHacks 2026</dc:creator>
  <cp:lastModifiedBy>caseHacks 2026</cp:lastModifiedBy>
  <cp:revision>1</cp:revision>
  <dcterms:created xsi:type="dcterms:W3CDTF">2026-05-24T03:48:24Z</dcterms:created>
  <dcterms:modified xsi:type="dcterms:W3CDTF">2026-05-24T03:48:24Z</dcterms:modified>
</cp:coreProperties>
</file>